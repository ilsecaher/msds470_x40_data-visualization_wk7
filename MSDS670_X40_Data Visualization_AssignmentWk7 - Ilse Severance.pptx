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5" r:id="rId5"/>
    <p:sldId id="264" r:id="rId6"/>
    <p:sldId id="266" r:id="rId7"/>
    <p:sldId id="268"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1752"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778E4-94C6-0208-6DB4-D43950CDA5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C79424-9A69-0317-6C03-0FA9E4BB67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70A002-A06A-EC4C-9625-008839DCE41E}"/>
              </a:ext>
            </a:extLst>
          </p:cNvPr>
          <p:cNvSpPr>
            <a:spLocks noGrp="1"/>
          </p:cNvSpPr>
          <p:nvPr>
            <p:ph type="dt" sz="half" idx="10"/>
          </p:nvPr>
        </p:nvSpPr>
        <p:spPr/>
        <p:txBody>
          <a:bodyPr/>
          <a:lstStyle/>
          <a:p>
            <a:fld id="{21390B68-90BC-41A7-8C66-2C86ECFC29D1}" type="datetimeFigureOut">
              <a:rPr lang="en-US" smtClean="0"/>
              <a:t>2/28/2026</a:t>
            </a:fld>
            <a:endParaRPr lang="en-US"/>
          </a:p>
        </p:txBody>
      </p:sp>
      <p:sp>
        <p:nvSpPr>
          <p:cNvPr id="5" name="Footer Placeholder 4">
            <a:extLst>
              <a:ext uri="{FF2B5EF4-FFF2-40B4-BE49-F238E27FC236}">
                <a16:creationId xmlns:a16="http://schemas.microsoft.com/office/drawing/2014/main" id="{148A58F9-FB34-F7B3-2212-0501D8FF1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318E1C-1A29-3BD9-28C9-B397DF8FC83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414176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4E841-0F04-2DF1-CC64-08BB539AAF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69FD73-7CAA-15D7-8833-C81FA1295F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010031-9BF4-F524-95F7-6BD5CCE3CB83}"/>
              </a:ext>
            </a:extLst>
          </p:cNvPr>
          <p:cNvSpPr>
            <a:spLocks noGrp="1"/>
          </p:cNvSpPr>
          <p:nvPr>
            <p:ph type="dt" sz="half" idx="10"/>
          </p:nvPr>
        </p:nvSpPr>
        <p:spPr/>
        <p:txBody>
          <a:bodyPr/>
          <a:lstStyle/>
          <a:p>
            <a:fld id="{21390B68-90BC-41A7-8C66-2C86ECFC29D1}" type="datetimeFigureOut">
              <a:rPr lang="en-US" smtClean="0"/>
              <a:t>2/28/2026</a:t>
            </a:fld>
            <a:endParaRPr lang="en-US"/>
          </a:p>
        </p:txBody>
      </p:sp>
      <p:sp>
        <p:nvSpPr>
          <p:cNvPr id="5" name="Footer Placeholder 4">
            <a:extLst>
              <a:ext uri="{FF2B5EF4-FFF2-40B4-BE49-F238E27FC236}">
                <a16:creationId xmlns:a16="http://schemas.microsoft.com/office/drawing/2014/main" id="{4B6D2F7C-61AD-44F4-07D7-E37894662B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D2930-5645-664F-7CFB-1A551C309062}"/>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0588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9F497-E1F7-3675-1AC5-510D390F81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E9F47B-704F-AD3B-2B66-1FD0D65834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633648-8B18-23B7-9621-C1D1B3A8D7A9}"/>
              </a:ext>
            </a:extLst>
          </p:cNvPr>
          <p:cNvSpPr>
            <a:spLocks noGrp="1"/>
          </p:cNvSpPr>
          <p:nvPr>
            <p:ph type="dt" sz="half" idx="10"/>
          </p:nvPr>
        </p:nvSpPr>
        <p:spPr/>
        <p:txBody>
          <a:bodyPr/>
          <a:lstStyle/>
          <a:p>
            <a:fld id="{21390B68-90BC-41A7-8C66-2C86ECFC29D1}" type="datetimeFigureOut">
              <a:rPr lang="en-US" smtClean="0"/>
              <a:t>2/28/2026</a:t>
            </a:fld>
            <a:endParaRPr lang="en-US"/>
          </a:p>
        </p:txBody>
      </p:sp>
      <p:sp>
        <p:nvSpPr>
          <p:cNvPr id="5" name="Footer Placeholder 4">
            <a:extLst>
              <a:ext uri="{FF2B5EF4-FFF2-40B4-BE49-F238E27FC236}">
                <a16:creationId xmlns:a16="http://schemas.microsoft.com/office/drawing/2014/main" id="{4529A776-B2D2-57C9-1093-7870C33A94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FF7E7-DB65-4B06-AF6A-755F0CC4675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4246791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1A9CA-50DB-614A-1A2E-DD3B09ED04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92DB55-5D94-31CD-E1BA-C686D61BFD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32C8B9-DA5E-96D7-87BB-CA21CD4E99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908E3B-F9FE-9E89-8304-DE8042E486DD}"/>
              </a:ext>
            </a:extLst>
          </p:cNvPr>
          <p:cNvSpPr>
            <a:spLocks noGrp="1"/>
          </p:cNvSpPr>
          <p:nvPr>
            <p:ph type="dt" sz="half" idx="10"/>
          </p:nvPr>
        </p:nvSpPr>
        <p:spPr/>
        <p:txBody>
          <a:bodyPr/>
          <a:lstStyle/>
          <a:p>
            <a:fld id="{21390B68-90BC-41A7-8C66-2C86ECFC29D1}" type="datetimeFigureOut">
              <a:rPr lang="en-US" smtClean="0"/>
              <a:t>2/28/2026</a:t>
            </a:fld>
            <a:endParaRPr lang="en-US"/>
          </a:p>
        </p:txBody>
      </p:sp>
      <p:sp>
        <p:nvSpPr>
          <p:cNvPr id="6" name="Footer Placeholder 5">
            <a:extLst>
              <a:ext uri="{FF2B5EF4-FFF2-40B4-BE49-F238E27FC236}">
                <a16:creationId xmlns:a16="http://schemas.microsoft.com/office/drawing/2014/main" id="{DE3F5BA8-9A5A-9326-5758-C18CBEAE64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6998E4-1DA6-8A52-4E02-C92F3066249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636090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ACCC-D0F3-ABF7-AFC2-494F1D199A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A3EA47-4E34-B4AE-DFF3-615E557228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F7BF68-2EBD-23B1-FCDF-72E6598F36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A437AF-6236-F0FA-179F-87A26F865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8826C4-FB72-2B6C-65FA-F521C014C3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BF7EA5-83FD-668A-B927-296D69D37E44}"/>
              </a:ext>
            </a:extLst>
          </p:cNvPr>
          <p:cNvSpPr>
            <a:spLocks noGrp="1"/>
          </p:cNvSpPr>
          <p:nvPr>
            <p:ph type="dt" sz="half" idx="10"/>
          </p:nvPr>
        </p:nvSpPr>
        <p:spPr/>
        <p:txBody>
          <a:bodyPr/>
          <a:lstStyle/>
          <a:p>
            <a:fld id="{21390B68-90BC-41A7-8C66-2C86ECFC29D1}" type="datetimeFigureOut">
              <a:rPr lang="en-US" smtClean="0"/>
              <a:t>2/28/2026</a:t>
            </a:fld>
            <a:endParaRPr lang="en-US"/>
          </a:p>
        </p:txBody>
      </p:sp>
      <p:sp>
        <p:nvSpPr>
          <p:cNvPr id="8" name="Footer Placeholder 7">
            <a:extLst>
              <a:ext uri="{FF2B5EF4-FFF2-40B4-BE49-F238E27FC236}">
                <a16:creationId xmlns:a16="http://schemas.microsoft.com/office/drawing/2014/main" id="{B362DEE1-5CB9-4D5F-534A-6657FA8723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ECE262-F0B8-32C9-DF5C-3250752A126D}"/>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1441604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F0A52-0811-E240-2ED0-D1BB9E05CC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7E351D-BB06-394B-AC00-90BA643DD608}"/>
              </a:ext>
            </a:extLst>
          </p:cNvPr>
          <p:cNvSpPr>
            <a:spLocks noGrp="1"/>
          </p:cNvSpPr>
          <p:nvPr>
            <p:ph type="dt" sz="half" idx="10"/>
          </p:nvPr>
        </p:nvSpPr>
        <p:spPr/>
        <p:txBody>
          <a:bodyPr/>
          <a:lstStyle/>
          <a:p>
            <a:fld id="{21390B68-90BC-41A7-8C66-2C86ECFC29D1}" type="datetimeFigureOut">
              <a:rPr lang="en-US" smtClean="0"/>
              <a:t>2/28/2026</a:t>
            </a:fld>
            <a:endParaRPr lang="en-US"/>
          </a:p>
        </p:txBody>
      </p:sp>
      <p:sp>
        <p:nvSpPr>
          <p:cNvPr id="4" name="Footer Placeholder 3">
            <a:extLst>
              <a:ext uri="{FF2B5EF4-FFF2-40B4-BE49-F238E27FC236}">
                <a16:creationId xmlns:a16="http://schemas.microsoft.com/office/drawing/2014/main" id="{1BC2224B-9A9F-1F61-A4D0-BF4291421E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B3A3F4-F2B9-E1CE-1875-59AF33149FA2}"/>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999097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10C23D-A8F3-05EF-8EE2-CE43483DA9BA}"/>
              </a:ext>
            </a:extLst>
          </p:cNvPr>
          <p:cNvSpPr>
            <a:spLocks noGrp="1"/>
          </p:cNvSpPr>
          <p:nvPr>
            <p:ph type="dt" sz="half" idx="10"/>
          </p:nvPr>
        </p:nvSpPr>
        <p:spPr/>
        <p:txBody>
          <a:bodyPr/>
          <a:lstStyle/>
          <a:p>
            <a:fld id="{21390B68-90BC-41A7-8C66-2C86ECFC29D1}" type="datetimeFigureOut">
              <a:rPr lang="en-US" smtClean="0"/>
              <a:t>2/28/2026</a:t>
            </a:fld>
            <a:endParaRPr lang="en-US"/>
          </a:p>
        </p:txBody>
      </p:sp>
      <p:sp>
        <p:nvSpPr>
          <p:cNvPr id="3" name="Footer Placeholder 2">
            <a:extLst>
              <a:ext uri="{FF2B5EF4-FFF2-40B4-BE49-F238E27FC236}">
                <a16:creationId xmlns:a16="http://schemas.microsoft.com/office/drawing/2014/main" id="{7F8ACA4C-672F-EB8F-E6D0-857DF045F9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FE54AE-96B9-9508-3219-56C4066887D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1459821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8D49C-136E-7C91-FDA0-48ED28D6B5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920143-4027-E5D5-847E-59DE57C20D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59F61E-229A-5E7D-5B4E-A1C8B529D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58892C-000C-CC29-0088-1C8026F65E70}"/>
              </a:ext>
            </a:extLst>
          </p:cNvPr>
          <p:cNvSpPr>
            <a:spLocks noGrp="1"/>
          </p:cNvSpPr>
          <p:nvPr>
            <p:ph type="dt" sz="half" idx="10"/>
          </p:nvPr>
        </p:nvSpPr>
        <p:spPr/>
        <p:txBody>
          <a:bodyPr/>
          <a:lstStyle/>
          <a:p>
            <a:fld id="{21390B68-90BC-41A7-8C66-2C86ECFC29D1}" type="datetimeFigureOut">
              <a:rPr lang="en-US" smtClean="0"/>
              <a:t>2/28/2026</a:t>
            </a:fld>
            <a:endParaRPr lang="en-US"/>
          </a:p>
        </p:txBody>
      </p:sp>
      <p:sp>
        <p:nvSpPr>
          <p:cNvPr id="6" name="Footer Placeholder 5">
            <a:extLst>
              <a:ext uri="{FF2B5EF4-FFF2-40B4-BE49-F238E27FC236}">
                <a16:creationId xmlns:a16="http://schemas.microsoft.com/office/drawing/2014/main" id="{CA0DAB9C-491C-4104-0399-D101D7C480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6798EB-0326-3B04-7B20-6F06E0E8E09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352335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3D29-721C-7C9D-2F3A-13087A112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F283DF-AD57-034E-EA4B-572D9AC17F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B1E938-7B08-F03B-9F32-72A7AD54F8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88A649-FAD0-A0AB-9ACD-46B9B3DD9386}"/>
              </a:ext>
            </a:extLst>
          </p:cNvPr>
          <p:cNvSpPr>
            <a:spLocks noGrp="1"/>
          </p:cNvSpPr>
          <p:nvPr>
            <p:ph type="dt" sz="half" idx="10"/>
          </p:nvPr>
        </p:nvSpPr>
        <p:spPr/>
        <p:txBody>
          <a:bodyPr/>
          <a:lstStyle/>
          <a:p>
            <a:fld id="{21390B68-90BC-41A7-8C66-2C86ECFC29D1}" type="datetimeFigureOut">
              <a:rPr lang="en-US" smtClean="0"/>
              <a:t>2/28/2026</a:t>
            </a:fld>
            <a:endParaRPr lang="en-US"/>
          </a:p>
        </p:txBody>
      </p:sp>
      <p:sp>
        <p:nvSpPr>
          <p:cNvPr id="6" name="Footer Placeholder 5">
            <a:extLst>
              <a:ext uri="{FF2B5EF4-FFF2-40B4-BE49-F238E27FC236}">
                <a16:creationId xmlns:a16="http://schemas.microsoft.com/office/drawing/2014/main" id="{C3CCA34A-B15E-B3A0-DA64-016B125ABC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3BB299-6B7D-A576-1EF0-DAB3A6EE9F9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137214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6A670-5722-FB23-8E69-2A42B9577F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DC0DC9-8E57-C006-75DD-A973A71FBE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10F5A-AA1F-6A06-A353-173552009E15}"/>
              </a:ext>
            </a:extLst>
          </p:cNvPr>
          <p:cNvSpPr>
            <a:spLocks noGrp="1"/>
          </p:cNvSpPr>
          <p:nvPr>
            <p:ph type="dt" sz="half" idx="10"/>
          </p:nvPr>
        </p:nvSpPr>
        <p:spPr/>
        <p:txBody>
          <a:bodyPr/>
          <a:lstStyle/>
          <a:p>
            <a:fld id="{21390B68-90BC-41A7-8C66-2C86ECFC29D1}" type="datetimeFigureOut">
              <a:rPr lang="en-US" smtClean="0"/>
              <a:t>2/28/2026</a:t>
            </a:fld>
            <a:endParaRPr lang="en-US"/>
          </a:p>
        </p:txBody>
      </p:sp>
      <p:sp>
        <p:nvSpPr>
          <p:cNvPr id="5" name="Footer Placeholder 4">
            <a:extLst>
              <a:ext uri="{FF2B5EF4-FFF2-40B4-BE49-F238E27FC236}">
                <a16:creationId xmlns:a16="http://schemas.microsoft.com/office/drawing/2014/main" id="{AE757A4F-6AB3-F0D7-6697-38798986C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BEB094-AAB9-82DB-3BC8-2D6B9EA78119}"/>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414573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EAF20B-33BB-1731-EF38-117BF387E8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92BFD3-14E2-502E-CE8A-0B59E8EC8B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B921B9-37DA-F843-3AF4-3F73E9CA47A7}"/>
              </a:ext>
            </a:extLst>
          </p:cNvPr>
          <p:cNvSpPr>
            <a:spLocks noGrp="1"/>
          </p:cNvSpPr>
          <p:nvPr>
            <p:ph type="dt" sz="half" idx="10"/>
          </p:nvPr>
        </p:nvSpPr>
        <p:spPr/>
        <p:txBody>
          <a:bodyPr/>
          <a:lstStyle/>
          <a:p>
            <a:fld id="{21390B68-90BC-41A7-8C66-2C86ECFC29D1}" type="datetimeFigureOut">
              <a:rPr lang="en-US" smtClean="0"/>
              <a:t>2/28/2026</a:t>
            </a:fld>
            <a:endParaRPr lang="en-US"/>
          </a:p>
        </p:txBody>
      </p:sp>
      <p:sp>
        <p:nvSpPr>
          <p:cNvPr id="5" name="Footer Placeholder 4">
            <a:extLst>
              <a:ext uri="{FF2B5EF4-FFF2-40B4-BE49-F238E27FC236}">
                <a16:creationId xmlns:a16="http://schemas.microsoft.com/office/drawing/2014/main" id="{49A5CAE8-820B-33F6-5A4E-8E21651171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F60487-D3AB-589D-2D5E-61664C0340C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267781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934AC8-30C2-B598-28B7-51100FC2AF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8484E3-8759-02A1-0325-BA22AA938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565ADC-EA12-5B3B-E42D-E8619370C6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390B68-90BC-41A7-8C66-2C86ECFC29D1}" type="datetimeFigureOut">
              <a:rPr lang="en-US" smtClean="0"/>
              <a:t>2/28/2026</a:t>
            </a:fld>
            <a:endParaRPr lang="en-US"/>
          </a:p>
        </p:txBody>
      </p:sp>
      <p:sp>
        <p:nvSpPr>
          <p:cNvPr id="5" name="Footer Placeholder 4">
            <a:extLst>
              <a:ext uri="{FF2B5EF4-FFF2-40B4-BE49-F238E27FC236}">
                <a16:creationId xmlns:a16="http://schemas.microsoft.com/office/drawing/2014/main" id="{FDA9A1C0-D26A-47D1-C2C5-74E31FF8FE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FA898D-2F74-2260-5CAC-07A25F7909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7E94FC-C976-47DB-AF10-00130952DF42}" type="slidenum">
              <a:rPr lang="en-US" smtClean="0"/>
              <a:t>‹#›</a:t>
            </a:fld>
            <a:endParaRPr lang="en-US"/>
          </a:p>
        </p:txBody>
      </p:sp>
    </p:spTree>
    <p:extLst>
      <p:ext uri="{BB962C8B-B14F-4D97-AF65-F5344CB8AC3E}">
        <p14:creationId xmlns:p14="http://schemas.microsoft.com/office/powerpoint/2010/main" val="592122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B98ED2-08AC-424F-36D5-5E2AB797FAF3}"/>
              </a:ext>
            </a:extLst>
          </p:cNvPr>
          <p:cNvSpPr>
            <a:spLocks noGrp="1"/>
          </p:cNvSpPr>
          <p:nvPr>
            <p:ph type="ctrTitle"/>
          </p:nvPr>
        </p:nvSpPr>
        <p:spPr>
          <a:xfrm>
            <a:off x="1386865" y="818984"/>
            <a:ext cx="6596245" cy="3268520"/>
          </a:xfrm>
        </p:spPr>
        <p:txBody>
          <a:bodyPr>
            <a:normAutofit/>
          </a:bodyPr>
          <a:lstStyle/>
          <a:p>
            <a:pPr algn="r"/>
            <a:r>
              <a:rPr lang="en-US" sz="4800" b="1" dirty="0">
                <a:solidFill>
                  <a:srgbClr val="FFFFFF"/>
                </a:solidFill>
              </a:rPr>
              <a:t>MSDS670_X40_Data Visualization</a:t>
            </a:r>
            <a:br>
              <a:rPr lang="en-US" sz="4800" b="1" dirty="0">
                <a:solidFill>
                  <a:srgbClr val="FFFFFF"/>
                </a:solidFill>
              </a:rPr>
            </a:br>
            <a:r>
              <a:rPr lang="en-US" sz="4800" b="1" dirty="0">
                <a:solidFill>
                  <a:srgbClr val="FFFFFF"/>
                </a:solidFill>
              </a:rPr>
              <a:t>Regis University</a:t>
            </a:r>
            <a:endParaRPr lang="en-US" sz="4800" dirty="0">
              <a:solidFill>
                <a:srgbClr val="FFFFFF"/>
              </a:solidFill>
            </a:endParaRP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DCBC2B6-3355-C804-7288-D09406F35CBB}"/>
              </a:ext>
            </a:extLst>
          </p:cNvPr>
          <p:cNvSpPr>
            <a:spLocks noGrp="1"/>
          </p:cNvSpPr>
          <p:nvPr>
            <p:ph type="subTitle" idx="1"/>
          </p:nvPr>
        </p:nvSpPr>
        <p:spPr>
          <a:xfrm>
            <a:off x="1931874" y="4797188"/>
            <a:ext cx="6051236" cy="1241828"/>
          </a:xfrm>
        </p:spPr>
        <p:txBody>
          <a:bodyPr>
            <a:normAutofit/>
          </a:bodyPr>
          <a:lstStyle/>
          <a:p>
            <a:pPr algn="r"/>
            <a:r>
              <a:rPr lang="en-US" dirty="0">
                <a:solidFill>
                  <a:srgbClr val="FFFFFF"/>
                </a:solidFill>
              </a:rPr>
              <a:t>Week 7 Assignment</a:t>
            </a:r>
          </a:p>
          <a:p>
            <a:pPr algn="r"/>
            <a:r>
              <a:rPr lang="en-US" dirty="0">
                <a:solidFill>
                  <a:srgbClr val="FFFFFF"/>
                </a:solidFill>
              </a:rPr>
              <a:t>Ilse Severance</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9868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F97A5-6CA1-2345-8988-8650BAF103F7}"/>
              </a:ext>
            </a:extLst>
          </p:cNvPr>
          <p:cNvSpPr>
            <a:spLocks noGrp="1"/>
          </p:cNvSpPr>
          <p:nvPr>
            <p:ph type="title"/>
          </p:nvPr>
        </p:nvSpPr>
        <p:spPr>
          <a:xfrm>
            <a:off x="838200" y="138983"/>
            <a:ext cx="10515600" cy="1325563"/>
          </a:xfrm>
        </p:spPr>
        <p:txBody>
          <a:bodyPr/>
          <a:lstStyle/>
          <a:p>
            <a:r>
              <a:rPr lang="en-US" dirty="0"/>
              <a:t>Overview</a:t>
            </a:r>
          </a:p>
        </p:txBody>
      </p:sp>
      <p:sp>
        <p:nvSpPr>
          <p:cNvPr id="3" name="Content Placeholder 2">
            <a:extLst>
              <a:ext uri="{FF2B5EF4-FFF2-40B4-BE49-F238E27FC236}">
                <a16:creationId xmlns:a16="http://schemas.microsoft.com/office/drawing/2014/main" id="{A199C98F-EAA4-77BC-2104-7E917C897622}"/>
              </a:ext>
            </a:extLst>
          </p:cNvPr>
          <p:cNvSpPr>
            <a:spLocks noGrp="1"/>
          </p:cNvSpPr>
          <p:nvPr>
            <p:ph idx="1"/>
          </p:nvPr>
        </p:nvSpPr>
        <p:spPr>
          <a:xfrm>
            <a:off x="838200" y="1464546"/>
            <a:ext cx="10515600" cy="4712417"/>
          </a:xfrm>
        </p:spPr>
        <p:txBody>
          <a:bodyPr/>
          <a:lstStyle/>
          <a:p>
            <a:pPr marL="0" indent="0">
              <a:buNone/>
            </a:pPr>
            <a:r>
              <a:rPr lang="en-US" dirty="0"/>
              <a:t>During this analysis, we aim to understand how Valentine’s spending behavior in India has shifted year-over-year and whether the differences observed between last year and this year indicate a broader market trend or segment changes. By investigating spending variation alongside relationship status, gender, city, gifting preferences, and plans, this study seeks to identify patterns that explain consumer decision making. </a:t>
            </a:r>
          </a:p>
        </p:txBody>
      </p:sp>
    </p:spTree>
    <p:extLst>
      <p:ext uri="{BB962C8B-B14F-4D97-AF65-F5344CB8AC3E}">
        <p14:creationId xmlns:p14="http://schemas.microsoft.com/office/powerpoint/2010/main" val="1701116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D8D65-9340-3C3D-9036-6E258F5E74D0}"/>
              </a:ext>
            </a:extLst>
          </p:cNvPr>
          <p:cNvSpPr>
            <a:spLocks noGrp="1"/>
          </p:cNvSpPr>
          <p:nvPr>
            <p:ph type="title"/>
          </p:nvPr>
        </p:nvSpPr>
        <p:spPr>
          <a:xfrm>
            <a:off x="838200" y="109487"/>
            <a:ext cx="10515600" cy="1325563"/>
          </a:xfrm>
        </p:spPr>
        <p:txBody>
          <a:bodyPr>
            <a:normAutofit/>
          </a:bodyPr>
          <a:lstStyle/>
          <a:p>
            <a:r>
              <a:rPr lang="en-US" sz="4000" dirty="0"/>
              <a:t>Valentine’s Spending Trends: Last Year vs This Year Consumer Analysis</a:t>
            </a:r>
          </a:p>
        </p:txBody>
      </p:sp>
      <p:sp>
        <p:nvSpPr>
          <p:cNvPr id="3" name="Content Placeholder 2">
            <a:extLst>
              <a:ext uri="{FF2B5EF4-FFF2-40B4-BE49-F238E27FC236}">
                <a16:creationId xmlns:a16="http://schemas.microsoft.com/office/drawing/2014/main" id="{90400290-E666-6F0B-02D1-ED4AFA4D0F98}"/>
              </a:ext>
            </a:extLst>
          </p:cNvPr>
          <p:cNvSpPr>
            <a:spLocks noGrp="1"/>
          </p:cNvSpPr>
          <p:nvPr>
            <p:ph idx="1"/>
          </p:nvPr>
        </p:nvSpPr>
        <p:spPr>
          <a:xfrm>
            <a:off x="7105343" y="1435050"/>
            <a:ext cx="4758813" cy="4803825"/>
          </a:xfrm>
        </p:spPr>
        <p:txBody>
          <a:bodyPr>
            <a:noAutofit/>
          </a:bodyPr>
          <a:lstStyle/>
          <a:p>
            <a:r>
              <a:rPr lang="en-US" sz="2200" dirty="0"/>
              <a:t>Year over year spending change remains centered around Last Year’s levels, with the overall change clustering closely around zero.</a:t>
            </a:r>
          </a:p>
          <a:p>
            <a:r>
              <a:rPr lang="en-US" sz="2200" dirty="0"/>
              <a:t>High individual variability is clear, with some consumers increasing or decreasing spending by over $100, indicating diverse financial or emotional responses. </a:t>
            </a:r>
          </a:p>
          <a:p>
            <a:r>
              <a:rPr lang="en-US" sz="2200" dirty="0"/>
              <a:t>No extreme overall shift is visible, suggesting that changes in Valentine’s spending are driven by specific segments than by broad market trend.</a:t>
            </a:r>
          </a:p>
        </p:txBody>
      </p:sp>
      <p:pic>
        <p:nvPicPr>
          <p:cNvPr id="7" name="Picture 6">
            <a:extLst>
              <a:ext uri="{FF2B5EF4-FFF2-40B4-BE49-F238E27FC236}">
                <a16:creationId xmlns:a16="http://schemas.microsoft.com/office/drawing/2014/main" id="{3DF4A9EC-48E0-DF81-16A4-142CDCC23AF1}"/>
              </a:ext>
            </a:extLst>
          </p:cNvPr>
          <p:cNvPicPr>
            <a:picLocks noChangeAspect="1"/>
          </p:cNvPicPr>
          <p:nvPr/>
        </p:nvPicPr>
        <p:blipFill>
          <a:blip r:embed="rId2"/>
          <a:stretch>
            <a:fillRect/>
          </a:stretch>
        </p:blipFill>
        <p:spPr>
          <a:xfrm>
            <a:off x="327844" y="1563700"/>
            <a:ext cx="6432240" cy="4803825"/>
          </a:xfrm>
          <a:prstGeom prst="rect">
            <a:avLst/>
          </a:prstGeom>
        </p:spPr>
      </p:pic>
    </p:spTree>
    <p:extLst>
      <p:ext uri="{BB962C8B-B14F-4D97-AF65-F5344CB8AC3E}">
        <p14:creationId xmlns:p14="http://schemas.microsoft.com/office/powerpoint/2010/main" val="3348002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DA61-7E46-6795-F56B-3F39BD035F44}"/>
              </a:ext>
            </a:extLst>
          </p:cNvPr>
          <p:cNvSpPr>
            <a:spLocks noGrp="1"/>
          </p:cNvSpPr>
          <p:nvPr>
            <p:ph type="title"/>
          </p:nvPr>
        </p:nvSpPr>
        <p:spPr>
          <a:xfrm>
            <a:off x="838200" y="109486"/>
            <a:ext cx="10515600" cy="1325563"/>
          </a:xfrm>
        </p:spPr>
        <p:txBody>
          <a:bodyPr>
            <a:normAutofit/>
          </a:bodyPr>
          <a:lstStyle/>
          <a:p>
            <a:r>
              <a:rPr lang="en-US" sz="3600" dirty="0"/>
              <a:t>Valentine’s Spending by Relationship Status: This Year vs Last Year Comparison</a:t>
            </a:r>
          </a:p>
        </p:txBody>
      </p:sp>
      <p:sp>
        <p:nvSpPr>
          <p:cNvPr id="3" name="Content Placeholder 2">
            <a:extLst>
              <a:ext uri="{FF2B5EF4-FFF2-40B4-BE49-F238E27FC236}">
                <a16:creationId xmlns:a16="http://schemas.microsoft.com/office/drawing/2014/main" id="{CCA4998E-2EA2-0D61-294B-A9B1A8E3F0A1}"/>
              </a:ext>
            </a:extLst>
          </p:cNvPr>
          <p:cNvSpPr>
            <a:spLocks noGrp="1"/>
          </p:cNvSpPr>
          <p:nvPr>
            <p:ph idx="1"/>
          </p:nvPr>
        </p:nvSpPr>
        <p:spPr>
          <a:xfrm>
            <a:off x="7502013" y="1825305"/>
            <a:ext cx="4395019" cy="4351338"/>
          </a:xfrm>
        </p:spPr>
        <p:txBody>
          <a:bodyPr>
            <a:normAutofit fontScale="77500" lnSpcReduction="20000"/>
          </a:bodyPr>
          <a:lstStyle/>
          <a:p>
            <a:r>
              <a:rPr lang="en-US" dirty="0"/>
              <a:t>Spending among “Singles” showed a slight increase from $76 to $78, indicating steady spending.</a:t>
            </a:r>
          </a:p>
          <a:p>
            <a:r>
              <a:rPr lang="en-US" dirty="0"/>
              <a:t>The “Complicated” relationship show a notable increase in spending, rising from $68 to $78, suggesting a significant shift toward higher Valentine’s spending.</a:t>
            </a:r>
          </a:p>
          <a:p>
            <a:r>
              <a:rPr lang="en-US" dirty="0"/>
              <a:t>Spending among those “Taken” decreased slightly from $77 last year to $74 this year, which could reflect changing priorities within committed relationships.</a:t>
            </a:r>
          </a:p>
        </p:txBody>
      </p:sp>
      <p:pic>
        <p:nvPicPr>
          <p:cNvPr id="5" name="Picture 4">
            <a:extLst>
              <a:ext uri="{FF2B5EF4-FFF2-40B4-BE49-F238E27FC236}">
                <a16:creationId xmlns:a16="http://schemas.microsoft.com/office/drawing/2014/main" id="{BDC95D7C-696A-DB57-AE3E-61353A7724C3}"/>
              </a:ext>
            </a:extLst>
          </p:cNvPr>
          <p:cNvPicPr>
            <a:picLocks noChangeAspect="1"/>
          </p:cNvPicPr>
          <p:nvPr/>
        </p:nvPicPr>
        <p:blipFill>
          <a:blip r:embed="rId2"/>
          <a:stretch>
            <a:fillRect/>
          </a:stretch>
        </p:blipFill>
        <p:spPr>
          <a:xfrm>
            <a:off x="115649" y="1746327"/>
            <a:ext cx="7260884" cy="4509294"/>
          </a:xfrm>
          <a:prstGeom prst="rect">
            <a:avLst/>
          </a:prstGeom>
        </p:spPr>
      </p:pic>
    </p:spTree>
    <p:extLst>
      <p:ext uri="{BB962C8B-B14F-4D97-AF65-F5344CB8AC3E}">
        <p14:creationId xmlns:p14="http://schemas.microsoft.com/office/powerpoint/2010/main" val="3017715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32458-DA84-A15C-FC3D-85D1E31D8C9A}"/>
              </a:ext>
            </a:extLst>
          </p:cNvPr>
          <p:cNvSpPr>
            <a:spLocks noGrp="1"/>
          </p:cNvSpPr>
          <p:nvPr>
            <p:ph type="title"/>
          </p:nvPr>
        </p:nvSpPr>
        <p:spPr>
          <a:xfrm>
            <a:off x="838200" y="0"/>
            <a:ext cx="10515600" cy="1325563"/>
          </a:xfrm>
        </p:spPr>
        <p:txBody>
          <a:bodyPr>
            <a:normAutofit/>
          </a:bodyPr>
          <a:lstStyle/>
          <a:p>
            <a:r>
              <a:rPr lang="en-US" sz="3600" dirty="0"/>
              <a:t>Valentine’s Spending by City: This Year vs Last Year Comparison</a:t>
            </a:r>
          </a:p>
        </p:txBody>
      </p:sp>
      <p:sp>
        <p:nvSpPr>
          <p:cNvPr id="3" name="Content Placeholder 2">
            <a:extLst>
              <a:ext uri="{FF2B5EF4-FFF2-40B4-BE49-F238E27FC236}">
                <a16:creationId xmlns:a16="http://schemas.microsoft.com/office/drawing/2014/main" id="{15F26433-9EEC-72A4-4E9D-817992303D4C}"/>
              </a:ext>
            </a:extLst>
          </p:cNvPr>
          <p:cNvSpPr>
            <a:spLocks noGrp="1"/>
          </p:cNvSpPr>
          <p:nvPr>
            <p:ph idx="1"/>
          </p:nvPr>
        </p:nvSpPr>
        <p:spPr>
          <a:xfrm>
            <a:off x="7059561" y="2090696"/>
            <a:ext cx="4943167" cy="3805409"/>
          </a:xfrm>
        </p:spPr>
        <p:txBody>
          <a:bodyPr>
            <a:normAutofit/>
          </a:bodyPr>
          <a:lstStyle/>
          <a:p>
            <a:pPr fontAlgn="ctr"/>
            <a:r>
              <a:rPr lang="en-US" sz="2400" dirty="0"/>
              <a:t>Spending increased in Faisalabad and Karachi, with Karachi showing the largest jump from $62 to $83.</a:t>
            </a:r>
          </a:p>
          <a:p>
            <a:pPr fontAlgn="ctr"/>
            <a:r>
              <a:rPr lang="en-US" sz="2400" dirty="0"/>
              <a:t>Lahore and Islamabad maintained a stable spending year-over-year.</a:t>
            </a:r>
          </a:p>
          <a:p>
            <a:pPr fontAlgn="ctr"/>
            <a:r>
              <a:rPr lang="en-US" sz="2400" dirty="0"/>
              <a:t>Rawalpindi experienced a decrease in spending from $74 to $64, suggesting possible shifts in consumer behavior or economic factors.</a:t>
            </a:r>
          </a:p>
        </p:txBody>
      </p:sp>
      <p:pic>
        <p:nvPicPr>
          <p:cNvPr id="9" name="Picture 8">
            <a:extLst>
              <a:ext uri="{FF2B5EF4-FFF2-40B4-BE49-F238E27FC236}">
                <a16:creationId xmlns:a16="http://schemas.microsoft.com/office/drawing/2014/main" id="{3ED085CF-B181-1543-94FC-AD91F5DF3CD4}"/>
              </a:ext>
            </a:extLst>
          </p:cNvPr>
          <p:cNvPicPr>
            <a:picLocks noChangeAspect="1"/>
          </p:cNvPicPr>
          <p:nvPr/>
        </p:nvPicPr>
        <p:blipFill>
          <a:blip r:embed="rId2"/>
          <a:stretch>
            <a:fillRect/>
          </a:stretch>
        </p:blipFill>
        <p:spPr>
          <a:xfrm>
            <a:off x="70380" y="1132599"/>
            <a:ext cx="6576225" cy="5721605"/>
          </a:xfrm>
          <a:prstGeom prst="rect">
            <a:avLst/>
          </a:prstGeom>
        </p:spPr>
      </p:pic>
    </p:spTree>
    <p:extLst>
      <p:ext uri="{BB962C8B-B14F-4D97-AF65-F5344CB8AC3E}">
        <p14:creationId xmlns:p14="http://schemas.microsoft.com/office/powerpoint/2010/main" val="4240402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ECDD1-A093-FB3E-5E92-157B1245458D}"/>
              </a:ext>
            </a:extLst>
          </p:cNvPr>
          <p:cNvSpPr>
            <a:spLocks noGrp="1"/>
          </p:cNvSpPr>
          <p:nvPr>
            <p:ph type="title"/>
          </p:nvPr>
        </p:nvSpPr>
        <p:spPr>
          <a:xfrm>
            <a:off x="838200" y="138524"/>
            <a:ext cx="10515600" cy="1325563"/>
          </a:xfrm>
        </p:spPr>
        <p:txBody>
          <a:bodyPr>
            <a:normAutofit/>
          </a:bodyPr>
          <a:lstStyle/>
          <a:p>
            <a:r>
              <a:rPr lang="en-US" sz="3600" dirty="0"/>
              <a:t>Female Valentine’s Spending: Last Year vs This Year Comparison</a:t>
            </a:r>
          </a:p>
        </p:txBody>
      </p:sp>
      <p:sp>
        <p:nvSpPr>
          <p:cNvPr id="3" name="Content Placeholder 2">
            <a:extLst>
              <a:ext uri="{FF2B5EF4-FFF2-40B4-BE49-F238E27FC236}">
                <a16:creationId xmlns:a16="http://schemas.microsoft.com/office/drawing/2014/main" id="{F9824E93-8232-9122-A51C-964F32A10B1F}"/>
              </a:ext>
            </a:extLst>
          </p:cNvPr>
          <p:cNvSpPr>
            <a:spLocks noGrp="1"/>
          </p:cNvSpPr>
          <p:nvPr>
            <p:ph idx="1"/>
          </p:nvPr>
        </p:nvSpPr>
        <p:spPr>
          <a:xfrm>
            <a:off x="8072285" y="1563943"/>
            <a:ext cx="4119715" cy="4648213"/>
          </a:xfrm>
        </p:spPr>
        <p:txBody>
          <a:bodyPr>
            <a:normAutofit fontScale="92500" lnSpcReduction="10000"/>
          </a:bodyPr>
          <a:lstStyle/>
          <a:p>
            <a:r>
              <a:rPr lang="en-US" sz="2400" dirty="0"/>
              <a:t>Average spending increased from $72 to $81 year-over-year, indicating slightly higher willingness to spend.</a:t>
            </a:r>
          </a:p>
          <a:p>
            <a:r>
              <a:rPr lang="en-US" sz="2400" dirty="0"/>
              <a:t>Significant growth in spending on “Date” and “Friends”, especially on gifts like Flowers and Dinner suggesting an interest in experiential and group celebrations.</a:t>
            </a:r>
          </a:p>
          <a:p>
            <a:r>
              <a:rPr lang="en-US" sz="2400" dirty="0"/>
              <a:t>Spending “Alone” plans decreased, especially on Chocolates, suggesting a reduction in individual purchases.</a:t>
            </a:r>
          </a:p>
        </p:txBody>
      </p:sp>
      <p:pic>
        <p:nvPicPr>
          <p:cNvPr id="4" name="Picture 3">
            <a:extLst>
              <a:ext uri="{FF2B5EF4-FFF2-40B4-BE49-F238E27FC236}">
                <a16:creationId xmlns:a16="http://schemas.microsoft.com/office/drawing/2014/main" id="{5D27A7B2-B102-D46B-3D8C-6666BCC901BF}"/>
              </a:ext>
            </a:extLst>
          </p:cNvPr>
          <p:cNvPicPr>
            <a:picLocks noChangeAspect="1"/>
          </p:cNvPicPr>
          <p:nvPr/>
        </p:nvPicPr>
        <p:blipFill>
          <a:blip r:embed="rId2"/>
          <a:stretch>
            <a:fillRect/>
          </a:stretch>
        </p:blipFill>
        <p:spPr>
          <a:xfrm>
            <a:off x="0" y="1739850"/>
            <a:ext cx="7895303" cy="4296401"/>
          </a:xfrm>
          <a:prstGeom prst="rect">
            <a:avLst/>
          </a:prstGeom>
        </p:spPr>
      </p:pic>
    </p:spTree>
    <p:extLst>
      <p:ext uri="{BB962C8B-B14F-4D97-AF65-F5344CB8AC3E}">
        <p14:creationId xmlns:p14="http://schemas.microsoft.com/office/powerpoint/2010/main" val="3352115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EA3F9-DE06-66DB-D035-65F27FDFB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A9678-D6F8-8354-A79F-65E6BB6A0DD3}"/>
              </a:ext>
            </a:extLst>
          </p:cNvPr>
          <p:cNvSpPr>
            <a:spLocks noGrp="1"/>
          </p:cNvSpPr>
          <p:nvPr>
            <p:ph type="title"/>
          </p:nvPr>
        </p:nvSpPr>
        <p:spPr>
          <a:xfrm>
            <a:off x="838200" y="138524"/>
            <a:ext cx="10515600" cy="1325563"/>
          </a:xfrm>
        </p:spPr>
        <p:txBody>
          <a:bodyPr>
            <a:normAutofit/>
          </a:bodyPr>
          <a:lstStyle/>
          <a:p>
            <a:r>
              <a:rPr lang="en-US" sz="3600" dirty="0"/>
              <a:t>Male Valentine’s Spending: Last Year vs This Year Comparison</a:t>
            </a:r>
          </a:p>
        </p:txBody>
      </p:sp>
      <p:pic>
        <p:nvPicPr>
          <p:cNvPr id="6" name="Picture 5">
            <a:extLst>
              <a:ext uri="{FF2B5EF4-FFF2-40B4-BE49-F238E27FC236}">
                <a16:creationId xmlns:a16="http://schemas.microsoft.com/office/drawing/2014/main" id="{021D0CCE-1B4E-B28F-110E-362B6F06A72A}"/>
              </a:ext>
            </a:extLst>
          </p:cNvPr>
          <p:cNvPicPr>
            <a:picLocks noChangeAspect="1"/>
          </p:cNvPicPr>
          <p:nvPr/>
        </p:nvPicPr>
        <p:blipFill>
          <a:blip r:embed="rId2"/>
          <a:stretch>
            <a:fillRect/>
          </a:stretch>
        </p:blipFill>
        <p:spPr>
          <a:xfrm>
            <a:off x="49159" y="1737465"/>
            <a:ext cx="7885471" cy="4291051"/>
          </a:xfrm>
          <a:prstGeom prst="rect">
            <a:avLst/>
          </a:prstGeom>
        </p:spPr>
      </p:pic>
      <p:sp>
        <p:nvSpPr>
          <p:cNvPr id="14" name="Content Placeholder 2">
            <a:extLst>
              <a:ext uri="{FF2B5EF4-FFF2-40B4-BE49-F238E27FC236}">
                <a16:creationId xmlns:a16="http://schemas.microsoft.com/office/drawing/2014/main" id="{938D927A-8121-A439-BF68-CE57E40E4FD0}"/>
              </a:ext>
            </a:extLst>
          </p:cNvPr>
          <p:cNvSpPr>
            <a:spLocks noGrp="1"/>
          </p:cNvSpPr>
          <p:nvPr>
            <p:ph idx="1"/>
          </p:nvPr>
        </p:nvSpPr>
        <p:spPr>
          <a:xfrm>
            <a:off x="8150946" y="1737465"/>
            <a:ext cx="3991895" cy="4441438"/>
          </a:xfrm>
        </p:spPr>
        <p:txBody>
          <a:bodyPr>
            <a:normAutofit fontScale="92500"/>
          </a:bodyPr>
          <a:lstStyle/>
          <a:p>
            <a:pPr fontAlgn="ctr"/>
            <a:r>
              <a:rPr lang="en-US" sz="2400" dirty="0"/>
              <a:t>Average spending decreased from $77 to $70 year-over-year, indicating a potential shift in male consumer behavior.</a:t>
            </a:r>
          </a:p>
          <a:p>
            <a:pPr fontAlgn="ctr"/>
            <a:r>
              <a:rPr lang="en-US" sz="2400" dirty="0"/>
              <a:t>Notable increase in spending by males celebrating “Alone” with Chocolates.</a:t>
            </a:r>
          </a:p>
          <a:p>
            <a:pPr fontAlgn="ctr"/>
            <a:r>
              <a:rPr lang="en-US" sz="2400" dirty="0"/>
              <a:t>A strong decrease in “Friends” and “Family” spending suggests a change in gift preferences for social interaction.</a:t>
            </a:r>
          </a:p>
        </p:txBody>
      </p:sp>
    </p:spTree>
    <p:extLst>
      <p:ext uri="{BB962C8B-B14F-4D97-AF65-F5344CB8AC3E}">
        <p14:creationId xmlns:p14="http://schemas.microsoft.com/office/powerpoint/2010/main" val="2005005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D6AF4-8761-08FE-35AE-2528C342EE7A}"/>
              </a:ext>
            </a:extLst>
          </p:cNvPr>
          <p:cNvSpPr>
            <a:spLocks noGrp="1"/>
          </p:cNvSpPr>
          <p:nvPr>
            <p:ph type="title"/>
          </p:nvPr>
        </p:nvSpPr>
        <p:spPr>
          <a:xfrm>
            <a:off x="838200" y="365125"/>
            <a:ext cx="10515600" cy="844243"/>
          </a:xfrm>
        </p:spPr>
        <p:txBody>
          <a:bodyPr/>
          <a:lstStyle/>
          <a:p>
            <a:r>
              <a:rPr lang="en-US" dirty="0"/>
              <a:t>Conclusions</a:t>
            </a:r>
          </a:p>
        </p:txBody>
      </p:sp>
      <p:sp>
        <p:nvSpPr>
          <p:cNvPr id="3" name="Content Placeholder 2">
            <a:extLst>
              <a:ext uri="{FF2B5EF4-FFF2-40B4-BE49-F238E27FC236}">
                <a16:creationId xmlns:a16="http://schemas.microsoft.com/office/drawing/2014/main" id="{C47C8D3E-8E53-0A00-E368-9482D92859D7}"/>
              </a:ext>
            </a:extLst>
          </p:cNvPr>
          <p:cNvSpPr>
            <a:spLocks noGrp="1"/>
          </p:cNvSpPr>
          <p:nvPr>
            <p:ph idx="1"/>
          </p:nvPr>
        </p:nvSpPr>
        <p:spPr>
          <a:xfrm>
            <a:off x="838200" y="1288026"/>
            <a:ext cx="10515600" cy="4888937"/>
          </a:xfrm>
        </p:spPr>
        <p:txBody>
          <a:bodyPr>
            <a:normAutofit/>
          </a:bodyPr>
          <a:lstStyle/>
          <a:p>
            <a:pPr marL="0" indent="0">
              <a:buNone/>
            </a:pPr>
            <a:r>
              <a:rPr lang="en-US" sz="2400" dirty="0"/>
              <a:t>The analysis of Valentine’s spending reveals both overall market trends and segment shifts in consumer behavior in India. Spending patterns vary by relationship status, gender, gifting preferences, and city, with populations from Karachi, Rawalpindi, Lahore, Islamabad, and Faisalabad showing distinct regional differences. While some segments demonstrate spending stability, others exhibit unpredictability driven by changing preferences and plans. These insights highlight evolving consumer dynamics and can guide businesses in tailoring marketing strategies, product offerings, and promotions to better engage customer groups.</a:t>
            </a:r>
          </a:p>
        </p:txBody>
      </p:sp>
    </p:spTree>
    <p:extLst>
      <p:ext uri="{BB962C8B-B14F-4D97-AF65-F5344CB8AC3E}">
        <p14:creationId xmlns:p14="http://schemas.microsoft.com/office/powerpoint/2010/main" val="17600143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5420</TotalTime>
  <Words>550</Words>
  <Application>Microsoft Office PowerPoint</Application>
  <PresentationFormat>Widescreen</PresentationFormat>
  <Paragraphs>27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MSDS670_X40_Data Visualization Regis University</vt:lpstr>
      <vt:lpstr>Overview</vt:lpstr>
      <vt:lpstr>Valentine’s Spending Trends: Last Year vs This Year Consumer Analysis</vt:lpstr>
      <vt:lpstr>Valentine’s Spending by Relationship Status: This Year vs Last Year Comparison</vt:lpstr>
      <vt:lpstr>Valentine’s Spending by City: This Year vs Last Year Comparison</vt:lpstr>
      <vt:lpstr>Female Valentine’s Spending: Last Year vs This Year Comparison</vt:lpstr>
      <vt:lpstr>Male Valentine’s Spending: Last Year vs This Year Comparison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Severance</dc:creator>
  <cp:lastModifiedBy>Nathan Severance</cp:lastModifiedBy>
  <cp:revision>13</cp:revision>
  <dcterms:created xsi:type="dcterms:W3CDTF">2026-01-16T22:09:56Z</dcterms:created>
  <dcterms:modified xsi:type="dcterms:W3CDTF">2026-03-01T04:34:00Z</dcterms:modified>
</cp:coreProperties>
</file>